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F5DE8-9565-865E-2E19-E8182ED91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1BDD07-624F-9816-DCE8-1AF435AA6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838BC6-BF3D-CD30-BBB3-7DB67D78A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E8B2F-E22C-0FCD-911C-16413943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29EAD-6987-50E3-9D51-51347F8D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25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D7400-79D5-5EBB-D52F-F814E30F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E93FC1-E5F8-484C-E094-68DDDE343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1A61E-964E-0D27-F224-5BDD1EEF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233232-D8C2-C101-CC9B-BC57FD32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44415-6D1B-4DC8-AEB3-4ADA4134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34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3D098-F337-02E8-D8AA-DD2DDDE2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9F5445-1DAC-3B5A-5F33-29846D3BD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0D8496-CFE4-606C-5FA1-78D1873A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618B4-872C-9FB7-3DF4-DDB7D419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2A9256-F0E0-5C72-8AFD-0E1583F2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55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7B0D8-3C0C-F4F4-6B4B-DBD7405B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82C9D-C619-F0E9-F9FC-9AC4DD82F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7714B9-B969-6239-6232-E51718FF2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DA7D6C-F4D4-4024-9745-CAC8E1B9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F39031-AD45-D293-FC63-85770CA5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A9088A-8BD8-73EB-089C-D7CE23AA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9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588F4-E282-2590-25E2-4A5594F1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EB22D-6079-F8A4-B038-4398AB967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92DDAE-FA5E-61F2-F492-E2C413481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486777-B15B-2B87-A284-4C3E30BA1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3D2E05-006A-33B0-08A7-0044B38E5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FB75F7-11FB-FD01-1A5B-A1E3E706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5FE370-0405-E195-1B25-C9F3245C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7F88DD-33A7-74E7-F6E3-62BEF259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19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A4EEB-2648-6308-14F9-78DB754F3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85A808-F519-6F7E-CAFE-F7310D85B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15CCD1-7B2D-1E71-1C34-82EF4834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5E5FCF-8F09-6BD1-B11A-EBEAC443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31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50A10B-29BF-D124-3E71-9686AD35A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2D5C9A-512B-8C07-EC31-E33368BA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EF49AB-910F-2AD8-D651-B8DC416D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4C4BA-388F-F3EB-4B3B-6F444DF29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0BA23-8C49-B3A6-1DC1-DFC7A4CC8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51D84C-059C-E5F2-48BA-A2C49B04B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0266B6-A6EB-A9A1-6480-5FD00B12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424925-3767-83E0-2C08-DB6476CF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D6E8A-8CF9-832D-8F4F-36BCEFB9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79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E3960-538A-B938-846C-38E1102D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E341D5-4BF7-A3DF-A675-D51E5A618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A1D74A-52AC-BFC8-344C-CEFF67E08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FD1F16-6C17-8C7C-94A5-C03EA429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D4EEC4-A942-7658-B7A2-4E51A979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C86D44-B889-291D-74CC-74B7F560A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780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6AF45-6334-5A05-B90F-DA5D7CA4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E0724C-9380-091D-C3E9-28AD70818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D56B80-8374-6931-6C13-D564A28FA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74C2C2-9AA9-CB66-754A-8E9AF50E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D2B233-4A2C-744C-E972-B05A4E03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7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91E3E6-9EEE-C113-7211-2D7C3C31D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01418E-DE95-B33B-BA41-9ECD321F4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15FDC5-4177-A7BA-FB11-6E709915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1093A3-91E3-5A2A-DAEC-8264E0FA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46F753-92BE-D6FA-282B-E2FC7A50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573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" descr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36715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6904D1-46C9-97D5-C1A6-2DF61B51F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A1B3B-A468-04BE-F240-17E66A5BE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3BBE0-BB60-FB44-C71B-6370A0330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28001-B180-4117-AC69-1399CA4EE162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BA82F-516D-81D4-839C-B4C5B4113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C2EAC2-923A-7960-1550-9EE52EAD1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D1592-B0CC-436E-9688-E9E18DC91E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9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5"/>
          <p:cNvSpPr txBox="1"/>
          <p:nvPr/>
        </p:nvSpPr>
        <p:spPr>
          <a:xfrm>
            <a:off x="750261" y="677917"/>
            <a:ext cx="8761488" cy="769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7" tIns="45717" rIns="45717" bIns="45717" anchor="t">
            <a:spAutoFit/>
          </a:bodyPr>
          <a:lstStyle>
            <a:lvl1pPr>
              <a:defRPr sz="4400">
                <a:latin typeface="풀무원 로하스 OTF Bold"/>
                <a:ea typeface="풀무원 로하스 OTF Bold"/>
                <a:cs typeface="풀무원 로하스 OTF Bold"/>
                <a:sym typeface="풀무원 로하스 OTF Bold"/>
              </a:defRPr>
            </a:lvl1pPr>
          </a:lstStyle>
          <a:p>
            <a:r>
              <a:rPr lang="ko-KR" altLang="en-US" dirty="0" err="1"/>
              <a:t>다논</a:t>
            </a:r>
            <a:r>
              <a:rPr lang="ko-KR" altLang="en-US" dirty="0"/>
              <a:t> 자체 </a:t>
            </a:r>
            <a:r>
              <a:rPr lang="en-US" altLang="ko-KR" dirty="0"/>
              <a:t>PLM  </a:t>
            </a:r>
            <a:r>
              <a:rPr lang="ko-KR" altLang="en-US" dirty="0"/>
              <a:t>개발  </a:t>
            </a:r>
            <a:endParaRPr lang="en-US" altLang="ko-KR" b="1" dirty="0"/>
          </a:p>
        </p:txBody>
      </p:sp>
      <p:sp>
        <p:nvSpPr>
          <p:cNvPr id="105" name="TextBox 6"/>
          <p:cNvSpPr txBox="1"/>
          <p:nvPr/>
        </p:nvSpPr>
        <p:spPr>
          <a:xfrm>
            <a:off x="801060" y="2499538"/>
            <a:ext cx="4194850" cy="1073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7" tIns="45717" rIns="45717" bIns="45717">
            <a:spAutoFit/>
          </a:bodyPr>
          <a:lstStyle/>
          <a:p>
            <a:pPr>
              <a:lnSpc>
                <a:spcPct val="80000"/>
              </a:lnSpc>
              <a:spcBef>
                <a:spcPts val="900"/>
              </a:spcBef>
              <a:defRPr sz="2000">
                <a:latin typeface="풀무원 로하스 OTF Medium"/>
                <a:ea typeface="풀무원 로하스 OTF Medium"/>
                <a:cs typeface="풀무원 로하스 OTF Medium"/>
                <a:sym typeface="풀무원 로하스 OTF Medium"/>
              </a:defRPr>
            </a:pPr>
            <a:r>
              <a:rPr lang="ko-KR" altLang="en-US" dirty="0" err="1"/>
              <a:t>풀무원다논</a:t>
            </a:r>
            <a:r>
              <a:rPr lang="en-US" altLang="ko-KR" dirty="0"/>
              <a:t>SBU</a:t>
            </a:r>
          </a:p>
          <a:p>
            <a:pPr>
              <a:lnSpc>
                <a:spcPct val="80000"/>
              </a:lnSpc>
              <a:spcBef>
                <a:spcPts val="900"/>
              </a:spcBef>
              <a:defRPr sz="2000">
                <a:latin typeface="풀무원 로하스 OTF Medium"/>
                <a:ea typeface="풀무원 로하스 OTF Medium"/>
                <a:cs typeface="풀무원 로하스 OTF Medium"/>
                <a:sym typeface="풀무원 로하스 OTF Medium"/>
              </a:defRPr>
            </a:pPr>
            <a:endParaRPr lang="ko-KR" altLang="en-US" dirty="0"/>
          </a:p>
          <a:p>
            <a:pPr>
              <a:lnSpc>
                <a:spcPct val="80000"/>
              </a:lnSpc>
              <a:spcBef>
                <a:spcPts val="900"/>
              </a:spcBef>
              <a:defRPr sz="2000">
                <a:latin typeface="풀무원 로하스 OTF Medium"/>
                <a:ea typeface="풀무원 로하스 OTF Medium"/>
                <a:cs typeface="풀무원 로하스 OTF Medium"/>
                <a:sym typeface="풀무원 로하스 OTF Medium"/>
              </a:defRPr>
            </a:pPr>
            <a:r>
              <a:rPr lang="en-US" altLang="ko-KR" dirty="0"/>
              <a:t>2026. 02.</a:t>
            </a:r>
          </a:p>
        </p:txBody>
      </p:sp>
      <p:pic>
        <p:nvPicPr>
          <p:cNvPr id="106" name="이미지" descr="이미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691" y="5929195"/>
            <a:ext cx="1502761" cy="5091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95819-1529-384D-8A0B-B84300472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rmAutofit fontScale="90000"/>
          </a:bodyPr>
          <a:lstStyle/>
          <a:p>
            <a:r>
              <a:rPr lang="en-US" altLang="ko-KR" sz="3200" dirty="0"/>
              <a:t>1. ARCHIVE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349DEA-A28B-11A1-833A-080626D3A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08" y="890016"/>
            <a:ext cx="10515600" cy="5286947"/>
          </a:xfrm>
        </p:spPr>
        <p:txBody>
          <a:bodyPr/>
          <a:lstStyle/>
          <a:p>
            <a:pPr>
              <a:buFontTx/>
              <a:buChar char="-"/>
            </a:pPr>
            <a:r>
              <a:rPr lang="ko-KR" altLang="en-US" sz="1800" dirty="0"/>
              <a:t>연도</a:t>
            </a:r>
            <a:r>
              <a:rPr lang="en-US" altLang="ko-KR" sz="1800" dirty="0"/>
              <a:t> ( </a:t>
            </a:r>
            <a:r>
              <a:rPr lang="ko-KR" altLang="en-US" sz="1800" dirty="0"/>
              <a:t>관리자기능</a:t>
            </a:r>
            <a:r>
              <a:rPr lang="en-US" altLang="ko-KR" sz="1800" dirty="0"/>
              <a:t>, </a:t>
            </a:r>
            <a:r>
              <a:rPr lang="ko-KR" altLang="en-US" sz="1800" dirty="0"/>
              <a:t>추가</a:t>
            </a:r>
            <a:r>
              <a:rPr lang="en-US" altLang="ko-KR" sz="1800" dirty="0"/>
              <a:t>/</a:t>
            </a:r>
            <a:r>
              <a:rPr lang="ko-KR" altLang="en-US" sz="1800" dirty="0"/>
              <a:t>삭제 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- </a:t>
            </a:r>
            <a:r>
              <a:rPr lang="ko-KR" altLang="en-US" sz="1800" dirty="0"/>
              <a:t> 브랜드 </a:t>
            </a:r>
            <a:r>
              <a:rPr lang="en-US" altLang="ko-KR" sz="1800" dirty="0"/>
              <a:t>( </a:t>
            </a:r>
            <a:r>
              <a:rPr lang="ko-KR" altLang="en-US" sz="1800" dirty="0"/>
              <a:t>관리자 </a:t>
            </a:r>
            <a:r>
              <a:rPr lang="en-US" altLang="ko-KR" sz="1800" dirty="0"/>
              <a:t>1</a:t>
            </a:r>
            <a:r>
              <a:rPr lang="ko-KR" altLang="en-US" sz="1800" dirty="0"/>
              <a:t>명만 가능 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4C2EB9-01C1-E6B0-D654-76B6FF5A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89" y="1521969"/>
            <a:ext cx="7828569" cy="5179885"/>
          </a:xfrm>
          <a:prstGeom prst="rect">
            <a:avLst/>
          </a:prstGeom>
        </p:spPr>
      </p:pic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1D317A89-7D2E-94B2-A818-9CBD5B36860D}"/>
              </a:ext>
            </a:extLst>
          </p:cNvPr>
          <p:cNvSpPr/>
          <p:nvPr/>
        </p:nvSpPr>
        <p:spPr>
          <a:xfrm>
            <a:off x="665018" y="3269673"/>
            <a:ext cx="905164" cy="2595418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3CA52809-5C03-8721-E8AA-318A1F87E2FE}"/>
              </a:ext>
            </a:extLst>
          </p:cNvPr>
          <p:cNvSpPr/>
          <p:nvPr/>
        </p:nvSpPr>
        <p:spPr>
          <a:xfrm rot="10800000">
            <a:off x="1690255" y="3262601"/>
            <a:ext cx="905164" cy="2595418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BDC0FE63-8247-C419-5EBF-8668ED0AA6B5}"/>
              </a:ext>
            </a:extLst>
          </p:cNvPr>
          <p:cNvSpPr/>
          <p:nvPr/>
        </p:nvSpPr>
        <p:spPr>
          <a:xfrm>
            <a:off x="2812471" y="2816366"/>
            <a:ext cx="905164" cy="3885487"/>
          </a:xfrm>
          <a:prstGeom prst="leftBracke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대괄호 10">
            <a:extLst>
              <a:ext uri="{FF2B5EF4-FFF2-40B4-BE49-F238E27FC236}">
                <a16:creationId xmlns:a16="http://schemas.microsoft.com/office/drawing/2014/main" id="{7B19C581-4A9C-B4D9-547B-1CFB78C6734A}"/>
              </a:ext>
            </a:extLst>
          </p:cNvPr>
          <p:cNvSpPr/>
          <p:nvPr/>
        </p:nvSpPr>
        <p:spPr>
          <a:xfrm rot="10800000">
            <a:off x="4959926" y="2814202"/>
            <a:ext cx="1062182" cy="3887652"/>
          </a:xfrm>
          <a:prstGeom prst="leftBracke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BDD8C975-D233-7739-CC24-683C356AB652}"/>
              </a:ext>
            </a:extLst>
          </p:cNvPr>
          <p:cNvCxnSpPr>
            <a:cxnSpLocks/>
          </p:cNvCxnSpPr>
          <p:nvPr/>
        </p:nvCxnSpPr>
        <p:spPr>
          <a:xfrm>
            <a:off x="4011353" y="1521967"/>
            <a:ext cx="1479663" cy="1478188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C1DF40E-2E9A-F06B-BBB9-55794780E7A3}"/>
              </a:ext>
            </a:extLst>
          </p:cNvPr>
          <p:cNvSpPr/>
          <p:nvPr/>
        </p:nvSpPr>
        <p:spPr>
          <a:xfrm>
            <a:off x="8792645" y="3632636"/>
            <a:ext cx="2697018" cy="2250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ARHCHIVE </a:t>
            </a:r>
            <a:r>
              <a:rPr lang="ko-KR" altLang="en-US" dirty="0"/>
              <a:t>페이지 구성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연도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브랜드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제품목록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23E8477-F511-3654-8F5E-69FF3085EB14}"/>
              </a:ext>
            </a:extLst>
          </p:cNvPr>
          <p:cNvCxnSpPr>
            <a:cxnSpLocks/>
          </p:cNvCxnSpPr>
          <p:nvPr/>
        </p:nvCxnSpPr>
        <p:spPr>
          <a:xfrm>
            <a:off x="899621" y="1175005"/>
            <a:ext cx="1529543" cy="25749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BBFAB8F-8813-3D91-AC09-2F1440FBCE0F}"/>
              </a:ext>
            </a:extLst>
          </p:cNvPr>
          <p:cNvCxnSpPr>
            <a:cxnSpLocks/>
          </p:cNvCxnSpPr>
          <p:nvPr/>
        </p:nvCxnSpPr>
        <p:spPr>
          <a:xfrm>
            <a:off x="893059" y="1154546"/>
            <a:ext cx="1404325" cy="18456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35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36BE8-C446-47E1-DA03-05512834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BE8D9-CEBE-9834-C6D9-B734D742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rmAutofit fontScale="90000"/>
          </a:bodyPr>
          <a:lstStyle/>
          <a:p>
            <a:r>
              <a:rPr lang="en-US" altLang="ko-KR" sz="3200" dirty="0"/>
              <a:t>1. ARCHIVE ( </a:t>
            </a:r>
            <a:r>
              <a:rPr lang="ko-KR" altLang="en-US" sz="3200" dirty="0"/>
              <a:t>과거 프로젝트  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7CB1CB-055E-4939-EB55-F81569458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08" y="890016"/>
            <a:ext cx="10515600" cy="5286947"/>
          </a:xfrm>
        </p:spPr>
        <p:txBody>
          <a:bodyPr/>
          <a:lstStyle/>
          <a:p>
            <a:pPr>
              <a:buFontTx/>
              <a:buChar char="-"/>
            </a:pPr>
            <a:r>
              <a:rPr lang="ko-KR" altLang="en-US" sz="1800" dirty="0"/>
              <a:t>브랜드 상위 폴더</a:t>
            </a:r>
            <a:r>
              <a:rPr lang="en-US" altLang="ko-KR" sz="1800" dirty="0"/>
              <a:t>, </a:t>
            </a:r>
            <a:r>
              <a:rPr lang="ko-KR" altLang="en-US" sz="1800" dirty="0"/>
              <a:t>하위 폴더 추가 </a:t>
            </a:r>
            <a:r>
              <a:rPr lang="en-US" altLang="ko-KR" sz="1800" dirty="0"/>
              <a:t>&amp; </a:t>
            </a:r>
            <a:r>
              <a:rPr lang="ko-KR" altLang="en-US" sz="1800" dirty="0"/>
              <a:t>삭제 </a:t>
            </a:r>
            <a:r>
              <a:rPr lang="en-US" altLang="ko-KR" sz="1800" dirty="0"/>
              <a:t>( </a:t>
            </a:r>
            <a:r>
              <a:rPr lang="ko-KR" altLang="en-US" sz="1800" dirty="0"/>
              <a:t>관리자 기능 적용 </a:t>
            </a:r>
            <a:r>
              <a:rPr lang="en-US" altLang="ko-KR" sz="1800" dirty="0"/>
              <a:t>)</a:t>
            </a:r>
          </a:p>
          <a:p>
            <a:pPr>
              <a:buFontTx/>
              <a:buChar char="-"/>
            </a:pPr>
            <a:r>
              <a:rPr lang="ko-KR" altLang="en-US" sz="1800" dirty="0"/>
              <a:t>하위 폴더 생성시 프로젝트 추가 메뉴 생성</a:t>
            </a:r>
            <a:endParaRPr lang="en-US" altLang="ko-KR" sz="180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19D59D-B71F-A9E9-3CDD-85649AB29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97" y="2163243"/>
            <a:ext cx="7758034" cy="4244624"/>
          </a:xfrm>
          <a:prstGeom prst="rect">
            <a:avLst/>
          </a:prstGeom>
        </p:spPr>
      </p:pic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465344ED-CECB-AD3C-D3DC-752EC77C9897}"/>
              </a:ext>
            </a:extLst>
          </p:cNvPr>
          <p:cNvCxnSpPr>
            <a:cxnSpLocks/>
          </p:cNvCxnSpPr>
          <p:nvPr/>
        </p:nvCxnSpPr>
        <p:spPr>
          <a:xfrm rot="5400000">
            <a:off x="3193271" y="1670431"/>
            <a:ext cx="1699879" cy="77816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759D3DD9-A145-5439-AA0B-AA7AE3533625}"/>
              </a:ext>
            </a:extLst>
          </p:cNvPr>
          <p:cNvSpPr/>
          <p:nvPr/>
        </p:nvSpPr>
        <p:spPr>
          <a:xfrm>
            <a:off x="3269673" y="2613891"/>
            <a:ext cx="249382" cy="1230368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D0C7436B-2AEB-AED5-4978-525A4AB5BA05}"/>
              </a:ext>
            </a:extLst>
          </p:cNvPr>
          <p:cNvSpPr/>
          <p:nvPr/>
        </p:nvSpPr>
        <p:spPr>
          <a:xfrm rot="10800000">
            <a:off x="4043212" y="2613891"/>
            <a:ext cx="249382" cy="1230368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9AE288F-ECB6-3109-D4DE-DABFE57B60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70684" y="2405935"/>
            <a:ext cx="1731715" cy="122382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A2B410A7-1316-7774-9211-1B2EA26D4179}"/>
              </a:ext>
            </a:extLst>
          </p:cNvPr>
          <p:cNvCxnSpPr>
            <a:cxnSpLocks/>
          </p:cNvCxnSpPr>
          <p:nvPr/>
        </p:nvCxnSpPr>
        <p:spPr>
          <a:xfrm flipV="1">
            <a:off x="3955466" y="2909452"/>
            <a:ext cx="3332025" cy="423531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D1A028-2277-DE02-A415-E3DF4A5C0FA0}"/>
              </a:ext>
            </a:extLst>
          </p:cNvPr>
          <p:cNvSpPr/>
          <p:nvPr/>
        </p:nvSpPr>
        <p:spPr>
          <a:xfrm>
            <a:off x="7677568" y="3877978"/>
            <a:ext cx="4265050" cy="2414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ARHCHIVE </a:t>
            </a:r>
            <a:r>
              <a:rPr lang="ko-KR" altLang="en-US" dirty="0"/>
              <a:t>페이지 구성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제품목록</a:t>
            </a:r>
            <a:endParaRPr lang="en-US" altLang="ko-KR" dirty="0"/>
          </a:p>
          <a:p>
            <a:r>
              <a:rPr lang="en-US" altLang="ko-KR" sz="1400" dirty="0"/>
              <a:t>   </a:t>
            </a:r>
            <a:r>
              <a:rPr lang="ko-KR" altLang="en-US" sz="1400" dirty="0"/>
              <a:t>브랜드 상위 폴더 </a:t>
            </a:r>
            <a:r>
              <a:rPr lang="en-US" altLang="ko-KR" sz="1400" dirty="0"/>
              <a:t>&gt; </a:t>
            </a:r>
            <a:r>
              <a:rPr lang="ko-KR" altLang="en-US" sz="1400" dirty="0"/>
              <a:t>브랜드 하위 폴더까지 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  <a:r>
              <a:rPr lang="ko-KR" altLang="en-US" sz="1400" dirty="0"/>
              <a:t>생성 후에 제품 추가 가능</a:t>
            </a:r>
            <a:endParaRPr lang="en-US" altLang="ko-KR" sz="1400" dirty="0"/>
          </a:p>
          <a:p>
            <a:pPr marL="285750" indent="-285750" algn="ctr">
              <a:buFontTx/>
              <a:buChar char="-"/>
            </a:pP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5833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096B-48E8-6F42-E7A5-AED6750D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31DEE-18DA-EECE-EBB9-F659DDE1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rmAutofit fontScale="90000"/>
          </a:bodyPr>
          <a:lstStyle/>
          <a:p>
            <a:r>
              <a:rPr lang="en-US" altLang="ko-KR" sz="3200" dirty="0"/>
              <a:t>1. ARCHIVE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7A93FB-3C15-6B78-71AB-B116DF082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08" y="890016"/>
            <a:ext cx="10515600" cy="5286947"/>
          </a:xfrm>
        </p:spPr>
        <p:txBody>
          <a:bodyPr/>
          <a:lstStyle/>
          <a:p>
            <a:pPr>
              <a:buFontTx/>
              <a:buChar char="-"/>
            </a:pPr>
            <a:r>
              <a:rPr lang="ko-KR" altLang="en-US" sz="1400" dirty="0"/>
              <a:t>새 프로젝트 추가 시 </a:t>
            </a:r>
            <a:r>
              <a:rPr lang="en-US" altLang="ko-KR" sz="1400" dirty="0"/>
              <a:t>( </a:t>
            </a:r>
            <a:r>
              <a:rPr lang="ko-KR" altLang="en-US" sz="1400" dirty="0"/>
              <a:t>프로젝트명</a:t>
            </a:r>
            <a:r>
              <a:rPr lang="en-US" altLang="ko-KR" sz="1400" dirty="0"/>
              <a:t>, </a:t>
            </a:r>
            <a:r>
              <a:rPr lang="ko-KR" altLang="en-US" sz="1400" dirty="0"/>
              <a:t>담당자</a:t>
            </a:r>
            <a:r>
              <a:rPr lang="en-US" altLang="ko-KR" sz="1400" dirty="0"/>
              <a:t>, Gate, </a:t>
            </a:r>
            <a:r>
              <a:rPr lang="ko-KR" altLang="en-US" sz="1400" dirty="0"/>
              <a:t>보고날짜 등록 </a:t>
            </a:r>
            <a:r>
              <a:rPr lang="en-US" altLang="ko-KR" sz="1400" dirty="0"/>
              <a:t>), </a:t>
            </a:r>
            <a:r>
              <a:rPr lang="ko-KR" altLang="en-US" sz="1400" dirty="0"/>
              <a:t>첨부파일 등록 구성 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① 프로젝트명</a:t>
            </a:r>
            <a:r>
              <a:rPr lang="en-US" altLang="ko-KR" sz="1400" dirty="0"/>
              <a:t> ② </a:t>
            </a:r>
            <a:r>
              <a:rPr lang="ko-KR" altLang="en-US" sz="1400" dirty="0"/>
              <a:t>담당자</a:t>
            </a:r>
            <a:r>
              <a:rPr lang="en-US" altLang="ko-KR" sz="1400" dirty="0"/>
              <a:t> ③ Gate ④ </a:t>
            </a:r>
            <a:r>
              <a:rPr lang="ko-KR" altLang="en-US" sz="1400" dirty="0"/>
              <a:t>날짜 </a:t>
            </a:r>
            <a:r>
              <a:rPr lang="en-US" altLang="ko-KR" sz="1400" dirty="0"/>
              <a:t>( </a:t>
            </a:r>
            <a:r>
              <a:rPr lang="ko-KR" altLang="en-US" sz="1400" dirty="0">
                <a:highlight>
                  <a:srgbClr val="FFFF00"/>
                </a:highlight>
              </a:rPr>
              <a:t>각 </a:t>
            </a:r>
            <a:r>
              <a:rPr lang="en-US" altLang="ko-KR" sz="1400" dirty="0">
                <a:highlight>
                  <a:srgbClr val="FFFF00"/>
                </a:highlight>
              </a:rPr>
              <a:t>Gate</a:t>
            </a:r>
            <a:r>
              <a:rPr lang="ko-KR" altLang="en-US" sz="1400" dirty="0">
                <a:highlight>
                  <a:srgbClr val="FFFF00"/>
                </a:highlight>
              </a:rPr>
              <a:t>별로 선택하여 등록</a:t>
            </a:r>
            <a:r>
              <a:rPr lang="en-US" altLang="ko-KR" sz="1400" dirty="0">
                <a:highlight>
                  <a:srgbClr val="FFFF00"/>
                </a:highlight>
              </a:rPr>
              <a:t>, 5</a:t>
            </a:r>
            <a:r>
              <a:rPr lang="ko-KR" altLang="en-US" sz="1400" dirty="0">
                <a:highlight>
                  <a:srgbClr val="FFFF00"/>
                </a:highlight>
              </a:rPr>
              <a:t>개까지 등록가능 중복 </a:t>
            </a:r>
            <a:r>
              <a:rPr lang="en-US" altLang="ko-KR" sz="1400" dirty="0">
                <a:highlight>
                  <a:srgbClr val="FFFF00"/>
                </a:highlight>
              </a:rPr>
              <a:t>Gate </a:t>
            </a:r>
            <a:r>
              <a:rPr lang="ko-KR" altLang="en-US" sz="1400" dirty="0">
                <a:highlight>
                  <a:srgbClr val="FFFF00"/>
                </a:highlight>
              </a:rPr>
              <a:t>등록 불가</a:t>
            </a:r>
            <a:r>
              <a:rPr lang="en-US" altLang="ko-KR" sz="1400" dirty="0"/>
              <a:t>)</a:t>
            </a:r>
          </a:p>
          <a:p>
            <a:pPr>
              <a:buFontTx/>
              <a:buChar char="-"/>
            </a:pPr>
            <a:r>
              <a:rPr lang="ko-KR" altLang="en-US" sz="1400" dirty="0"/>
              <a:t>첨부 파일 추가적으로 등록 가능</a:t>
            </a:r>
            <a:r>
              <a:rPr lang="en-US" altLang="ko-KR" sz="1600" dirty="0"/>
              <a:t>, </a:t>
            </a:r>
            <a:r>
              <a:rPr lang="ko-KR" altLang="en-US" sz="1400" dirty="0"/>
              <a:t>메모 누적 가능 기능</a:t>
            </a:r>
            <a:r>
              <a:rPr lang="en-US" altLang="ko-KR" sz="1400" dirty="0"/>
              <a:t>, </a:t>
            </a:r>
            <a:r>
              <a:rPr lang="ko-KR" altLang="en-US" sz="1400" dirty="0"/>
              <a:t>각 </a:t>
            </a:r>
            <a:r>
              <a:rPr lang="en-US" altLang="ko-KR" sz="1400" dirty="0"/>
              <a:t>Gate </a:t>
            </a:r>
            <a:r>
              <a:rPr lang="ko-KR" altLang="en-US" sz="1400" dirty="0"/>
              <a:t>별로 표시</a:t>
            </a:r>
            <a:endParaRPr lang="en-US" altLang="ko-KR" sz="1400" dirty="0"/>
          </a:p>
          <a:p>
            <a:pPr>
              <a:buFontTx/>
              <a:buChar char="-"/>
            </a:pPr>
            <a:endParaRPr lang="en-US" altLang="ko-KR" sz="1800" dirty="0"/>
          </a:p>
          <a:p>
            <a:pPr>
              <a:buFontTx/>
              <a:buChar char="-"/>
            </a:pPr>
            <a:endParaRPr lang="en-US" altLang="ko-KR" sz="1800" dirty="0"/>
          </a:p>
        </p:txBody>
      </p:sp>
      <p:pic>
        <p:nvPicPr>
          <p:cNvPr id="12" name="그림 11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EFA1AB-8CDF-EBF0-3D26-59F45AA16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419" y="3861587"/>
            <a:ext cx="3892131" cy="2230260"/>
          </a:xfrm>
          <a:prstGeom prst="rect">
            <a:avLst/>
          </a:prstGeom>
        </p:spPr>
      </p:pic>
      <p:pic>
        <p:nvPicPr>
          <p:cNvPr id="16" name="그림 15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62AADC-0F6E-567E-3CD5-02A44902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450" y="2614001"/>
            <a:ext cx="3917099" cy="3477846"/>
          </a:xfrm>
          <a:prstGeom prst="rect">
            <a:avLst/>
          </a:prstGeom>
        </p:spPr>
      </p:pic>
      <p:pic>
        <p:nvPicPr>
          <p:cNvPr id="18" name="그림 1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688540-C140-5264-3CF0-880B0685D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8" y="2397267"/>
            <a:ext cx="3904177" cy="3845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E9A28F-6EA2-F866-22C0-17E7AACFC048}"/>
              </a:ext>
            </a:extLst>
          </p:cNvPr>
          <p:cNvSpPr txBox="1"/>
          <p:nvPr/>
        </p:nvSpPr>
        <p:spPr>
          <a:xfrm>
            <a:off x="838200" y="6332522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</a:t>
            </a:r>
            <a:r>
              <a:rPr lang="ko-KR" altLang="en-US" dirty="0"/>
              <a:t>프로젝트 등록 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5DD46-34E7-F077-09BC-7D857B16C018}"/>
              </a:ext>
            </a:extLst>
          </p:cNvPr>
          <p:cNvSpPr txBox="1"/>
          <p:nvPr/>
        </p:nvSpPr>
        <p:spPr>
          <a:xfrm>
            <a:off x="5026636" y="6308209"/>
            <a:ext cx="224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Gate</a:t>
            </a:r>
            <a:r>
              <a:rPr lang="ko-KR" altLang="en-US" dirty="0"/>
              <a:t> 추가 등록 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D0C90-66F0-7BE6-2A55-71ED3550BAAC}"/>
              </a:ext>
            </a:extLst>
          </p:cNvPr>
          <p:cNvSpPr txBox="1"/>
          <p:nvPr/>
        </p:nvSpPr>
        <p:spPr>
          <a:xfrm>
            <a:off x="8919763" y="6332522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</a:t>
            </a:r>
            <a:r>
              <a:rPr lang="ko-KR" altLang="en-US" dirty="0"/>
              <a:t>등록 후 화면 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0675D2-FD09-8630-BB51-24901C90AE3D}"/>
              </a:ext>
            </a:extLst>
          </p:cNvPr>
          <p:cNvSpPr/>
          <p:nvPr/>
        </p:nvSpPr>
        <p:spPr>
          <a:xfrm>
            <a:off x="8280371" y="1612774"/>
            <a:ext cx="3356968" cy="2163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1100" dirty="0"/>
              <a:t>ARHCHIVE </a:t>
            </a:r>
            <a:r>
              <a:rPr lang="ko-KR" altLang="en-US" sz="1100" dirty="0"/>
              <a:t>페이지 구성</a:t>
            </a:r>
            <a:endParaRPr lang="en-US" altLang="ko-KR" sz="1100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050" dirty="0"/>
              <a:t>새 프로젝트 추가 메뉴</a:t>
            </a:r>
            <a:br>
              <a:rPr lang="en-US" altLang="ko-KR" sz="1400" dirty="0"/>
            </a:br>
            <a:r>
              <a:rPr lang="en-US" altLang="ko-KR" sz="1400" dirty="0"/>
              <a:t> - </a:t>
            </a:r>
            <a:r>
              <a:rPr lang="ko-KR" altLang="en-US" sz="1050" dirty="0"/>
              <a:t>프로젝트 정보 등록</a:t>
            </a:r>
            <a:endParaRPr lang="en-US" altLang="ko-KR" sz="1050" dirty="0"/>
          </a:p>
          <a:p>
            <a:r>
              <a:rPr lang="en-US" altLang="ko-KR" sz="1050" dirty="0"/>
              <a:t>       - Gate</a:t>
            </a:r>
            <a:r>
              <a:rPr lang="ko-KR" altLang="en-US" sz="1050" dirty="0"/>
              <a:t> 진행됨에 따라 추가 등록</a:t>
            </a:r>
            <a:endParaRPr lang="en-US" altLang="ko-KR" sz="1050" dirty="0"/>
          </a:p>
          <a:p>
            <a:r>
              <a:rPr lang="en-US" altLang="ko-KR" sz="1050" dirty="0"/>
              <a:t>       - </a:t>
            </a:r>
            <a:r>
              <a:rPr lang="ko-KR" altLang="en-US" sz="1050" dirty="0"/>
              <a:t>등록 후 게이트</a:t>
            </a:r>
            <a:r>
              <a:rPr lang="en-US" altLang="ko-KR" sz="1050" dirty="0"/>
              <a:t>, </a:t>
            </a:r>
            <a:r>
              <a:rPr lang="ko-KR" altLang="en-US" sz="1050" dirty="0"/>
              <a:t>보고 날짜 시각화</a:t>
            </a:r>
            <a:endParaRPr lang="en-US" altLang="ko-KR" sz="1050" dirty="0"/>
          </a:p>
          <a:p>
            <a:r>
              <a:rPr lang="en-US" altLang="ko-KR" sz="1050" dirty="0"/>
              <a:t>       - </a:t>
            </a:r>
            <a:r>
              <a:rPr lang="ko-KR" altLang="en-US" sz="1050" dirty="0"/>
              <a:t>프로젝트 </a:t>
            </a:r>
            <a:r>
              <a:rPr lang="en-US" altLang="ko-KR" sz="1050" dirty="0"/>
              <a:t>1</a:t>
            </a:r>
            <a:r>
              <a:rPr lang="ko-KR" altLang="en-US" sz="1050" dirty="0"/>
              <a:t>개에 </a:t>
            </a:r>
            <a:r>
              <a:rPr lang="en-US" altLang="ko-KR" sz="1050" dirty="0"/>
              <a:t>5</a:t>
            </a:r>
            <a:r>
              <a:rPr lang="ko-KR" altLang="en-US" sz="1050" dirty="0"/>
              <a:t>개</a:t>
            </a:r>
            <a:r>
              <a:rPr lang="en-US" altLang="ko-KR" sz="1050" dirty="0"/>
              <a:t> Gate </a:t>
            </a:r>
            <a:r>
              <a:rPr lang="ko-KR" altLang="en-US" sz="1050" dirty="0"/>
              <a:t>추가</a:t>
            </a:r>
            <a:r>
              <a:rPr lang="en-US" altLang="ko-KR" sz="1050" dirty="0"/>
              <a:t> </a:t>
            </a:r>
            <a:r>
              <a:rPr lang="ko-KR" altLang="en-US" sz="1050" dirty="0"/>
              <a:t>가능</a:t>
            </a:r>
            <a:endParaRPr lang="en-US" altLang="ko-KR" sz="1050" dirty="0"/>
          </a:p>
          <a:p>
            <a:r>
              <a:rPr lang="en-US" altLang="ko-KR" sz="1050" dirty="0"/>
              <a:t>         ( Gate </a:t>
            </a:r>
            <a:r>
              <a:rPr lang="ko-KR" altLang="en-US" sz="1050" dirty="0"/>
              <a:t>중복 불가능 </a:t>
            </a:r>
            <a:r>
              <a:rPr lang="en-US" altLang="ko-KR" sz="1050" dirty="0"/>
              <a:t>)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2EDFF77-B181-C9F5-BC3B-AA6BD65CC217}"/>
              </a:ext>
            </a:extLst>
          </p:cNvPr>
          <p:cNvCxnSpPr>
            <a:cxnSpLocks/>
          </p:cNvCxnSpPr>
          <p:nvPr/>
        </p:nvCxnSpPr>
        <p:spPr>
          <a:xfrm>
            <a:off x="5410201" y="1426533"/>
            <a:ext cx="0" cy="11874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양쪽 대괄호 12">
            <a:extLst>
              <a:ext uri="{FF2B5EF4-FFF2-40B4-BE49-F238E27FC236}">
                <a16:creationId xmlns:a16="http://schemas.microsoft.com/office/drawing/2014/main" id="{EA73DB0E-1BA9-C99C-9874-35AEF809DCE4}"/>
              </a:ext>
            </a:extLst>
          </p:cNvPr>
          <p:cNvSpPr/>
          <p:nvPr/>
        </p:nvSpPr>
        <p:spPr>
          <a:xfrm>
            <a:off x="2874810" y="3058756"/>
            <a:ext cx="988291" cy="427182"/>
          </a:xfrm>
          <a:prstGeom prst="bracketPair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양쪽 대괄호 13">
            <a:extLst>
              <a:ext uri="{FF2B5EF4-FFF2-40B4-BE49-F238E27FC236}">
                <a16:creationId xmlns:a16="http://schemas.microsoft.com/office/drawing/2014/main" id="{7DEAFB7A-C077-F820-94E7-FC85BBC332D8}"/>
              </a:ext>
            </a:extLst>
          </p:cNvPr>
          <p:cNvSpPr/>
          <p:nvPr/>
        </p:nvSpPr>
        <p:spPr>
          <a:xfrm>
            <a:off x="166266" y="5187738"/>
            <a:ext cx="3696835" cy="427182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양쪽 대괄호 14">
            <a:extLst>
              <a:ext uri="{FF2B5EF4-FFF2-40B4-BE49-F238E27FC236}">
                <a16:creationId xmlns:a16="http://schemas.microsoft.com/office/drawing/2014/main" id="{0A572D76-AFAB-5B88-5529-DCB20AEE2C0C}"/>
              </a:ext>
            </a:extLst>
          </p:cNvPr>
          <p:cNvSpPr/>
          <p:nvPr/>
        </p:nvSpPr>
        <p:spPr>
          <a:xfrm>
            <a:off x="117310" y="3704257"/>
            <a:ext cx="3826270" cy="1358846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양쪽 대괄호 16">
            <a:extLst>
              <a:ext uri="{FF2B5EF4-FFF2-40B4-BE49-F238E27FC236}">
                <a16:creationId xmlns:a16="http://schemas.microsoft.com/office/drawing/2014/main" id="{F90CA259-1210-53DB-EC1D-1ACE894BE4FC}"/>
              </a:ext>
            </a:extLst>
          </p:cNvPr>
          <p:cNvSpPr/>
          <p:nvPr/>
        </p:nvSpPr>
        <p:spPr>
          <a:xfrm>
            <a:off x="4211212" y="4609138"/>
            <a:ext cx="3826270" cy="1358846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양쪽 대괄호 18">
            <a:extLst>
              <a:ext uri="{FF2B5EF4-FFF2-40B4-BE49-F238E27FC236}">
                <a16:creationId xmlns:a16="http://schemas.microsoft.com/office/drawing/2014/main" id="{6DC2562F-2C94-99E3-5240-43DF434E7F4B}"/>
              </a:ext>
            </a:extLst>
          </p:cNvPr>
          <p:cNvSpPr/>
          <p:nvPr/>
        </p:nvSpPr>
        <p:spPr>
          <a:xfrm>
            <a:off x="4162547" y="3153737"/>
            <a:ext cx="3826270" cy="1358846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222CC25-B476-8D09-AA42-59339ADB19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06874" y="2156053"/>
            <a:ext cx="3332554" cy="2481545"/>
          </a:xfrm>
          <a:prstGeom prst="bentConnector3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C2F9C358-1288-5C71-3565-6A57D8217385}"/>
              </a:ext>
            </a:extLst>
          </p:cNvPr>
          <p:cNvCxnSpPr>
            <a:cxnSpLocks/>
          </p:cNvCxnSpPr>
          <p:nvPr/>
        </p:nvCxnSpPr>
        <p:spPr>
          <a:xfrm rot="5400000">
            <a:off x="-83637" y="1575844"/>
            <a:ext cx="1461704" cy="436155"/>
          </a:xfrm>
          <a:prstGeom prst="bentConnector3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A40BF4AC-C92E-69F0-CB1A-82E7A750E7ED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H="1">
            <a:off x="9059008" y="2512620"/>
            <a:ext cx="3236321" cy="1436628"/>
          </a:xfrm>
          <a:prstGeom prst="bentConnector5">
            <a:avLst>
              <a:gd name="adj1" fmla="val -7064"/>
              <a:gd name="adj2" fmla="val 132747"/>
              <a:gd name="adj3" fmla="val 83428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52148B-0647-5251-BC5D-7D0729FFC617}"/>
              </a:ext>
            </a:extLst>
          </p:cNvPr>
          <p:cNvSpPr/>
          <p:nvPr/>
        </p:nvSpPr>
        <p:spPr>
          <a:xfrm>
            <a:off x="5410201" y="316658"/>
            <a:ext cx="6439799" cy="4399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Gate – Go Define &gt; Go Develop &gt; Go Implement &gt; Go launch &gt; Closure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3612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1295E-0D0F-8301-EF34-C6551AF32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51894-875D-0B30-1789-DDCE5F3C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rmAutofit fontScale="90000"/>
          </a:bodyPr>
          <a:lstStyle/>
          <a:p>
            <a:r>
              <a:rPr lang="en-US" altLang="ko-KR" sz="3200" dirty="0"/>
              <a:t>2. Ongoing Projects ( </a:t>
            </a:r>
            <a:r>
              <a:rPr lang="ko-KR" altLang="en-US" sz="3200" dirty="0"/>
              <a:t>진행중인 프로젝트 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C604E-2C8A-0FE1-56AF-7ACA357AF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08" y="890016"/>
            <a:ext cx="10515600" cy="5286947"/>
          </a:xfrm>
        </p:spPr>
        <p:txBody>
          <a:bodyPr/>
          <a:lstStyle/>
          <a:p>
            <a:pPr marL="342900" indent="-342900">
              <a:buFont typeface="+mj-ea"/>
              <a:buAutoNum type="circleNumDbPlain"/>
            </a:pPr>
            <a:r>
              <a:rPr lang="ko-KR" altLang="en-US" sz="1400" dirty="0"/>
              <a:t>브랜드</a:t>
            </a:r>
            <a:r>
              <a:rPr lang="en-US" altLang="ko-KR" sz="1400" dirty="0"/>
              <a:t> – </a:t>
            </a:r>
            <a:r>
              <a:rPr lang="ko-KR" altLang="en-US" sz="1400" dirty="0"/>
              <a:t>제품</a:t>
            </a:r>
            <a:r>
              <a:rPr lang="en-US" altLang="ko-KR" sz="1400" dirty="0"/>
              <a:t> – </a:t>
            </a:r>
            <a:r>
              <a:rPr lang="ko-KR" altLang="en-US" sz="1400" dirty="0"/>
              <a:t>프로젝트명</a:t>
            </a:r>
            <a:r>
              <a:rPr lang="en-US" altLang="ko-KR" sz="1400" dirty="0"/>
              <a:t> – Gate -  </a:t>
            </a:r>
            <a:r>
              <a:rPr lang="ko-KR" altLang="en-US" sz="1400" dirty="0"/>
              <a:t>출시 일자</a:t>
            </a:r>
            <a:r>
              <a:rPr lang="en-US" altLang="ko-KR" sz="1400" dirty="0"/>
              <a:t> - </a:t>
            </a:r>
            <a:r>
              <a:rPr lang="en-US" altLang="ko-KR" sz="1400" dirty="0">
                <a:highlight>
                  <a:srgbClr val="FFFF00"/>
                </a:highlight>
              </a:rPr>
              <a:t>TBD( </a:t>
            </a:r>
            <a:r>
              <a:rPr lang="ko-KR" altLang="en-US" sz="1400" dirty="0" err="1">
                <a:highlight>
                  <a:srgbClr val="FFFF00"/>
                </a:highlight>
              </a:rPr>
              <a:t>선택시</a:t>
            </a:r>
            <a:r>
              <a:rPr lang="ko-KR" altLang="en-US" sz="1400" dirty="0">
                <a:highlight>
                  <a:srgbClr val="FFFF00"/>
                </a:highlight>
              </a:rPr>
              <a:t> 출시 일자 비활성화 </a:t>
            </a:r>
            <a:r>
              <a:rPr lang="en-US" altLang="ko-KR" sz="1400" dirty="0">
                <a:highlight>
                  <a:srgbClr val="FFFF00"/>
                </a:highlight>
              </a:rPr>
              <a:t>) - </a:t>
            </a:r>
            <a:r>
              <a:rPr lang="ko-KR" altLang="en-US" sz="1400" dirty="0"/>
              <a:t>담당자</a:t>
            </a:r>
            <a:endParaRPr lang="en-US" altLang="ko-KR" sz="1400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/>
              <a:t>날짜</a:t>
            </a:r>
            <a:r>
              <a:rPr lang="en-US" altLang="ko-KR" sz="1400" dirty="0"/>
              <a:t> - </a:t>
            </a:r>
            <a:r>
              <a:rPr lang="ko-KR" altLang="en-US" sz="1400" dirty="0"/>
              <a:t>문서 </a:t>
            </a:r>
            <a:r>
              <a:rPr lang="en-US" altLang="ko-KR" sz="1400" dirty="0"/>
              <a:t>( </a:t>
            </a:r>
            <a:r>
              <a:rPr lang="ko-KR" altLang="en-US" sz="1400" dirty="0"/>
              <a:t>첨부 파일 </a:t>
            </a:r>
            <a:r>
              <a:rPr lang="en-US" altLang="ko-KR" sz="1400" dirty="0"/>
              <a:t>) - </a:t>
            </a:r>
            <a:r>
              <a:rPr lang="ko-KR" altLang="en-US" sz="1400" dirty="0"/>
              <a:t>유형</a:t>
            </a:r>
            <a:r>
              <a:rPr lang="en-US" altLang="ko-KR" sz="1400" dirty="0"/>
              <a:t>( Status, go ) – </a:t>
            </a:r>
            <a:r>
              <a:rPr lang="ko-KR" altLang="en-US" sz="1400" dirty="0"/>
              <a:t>비고</a:t>
            </a:r>
            <a:r>
              <a:rPr lang="en-US" altLang="ko-KR" sz="1400" dirty="0"/>
              <a:t> - </a:t>
            </a:r>
            <a:r>
              <a:rPr lang="ko-KR" altLang="en-US" sz="1400" dirty="0"/>
              <a:t>삭제 </a:t>
            </a:r>
            <a:endParaRPr lang="en-US" altLang="ko-KR" sz="1400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sz="1400" dirty="0"/>
              <a:t>REQUEST DESION ( </a:t>
            </a:r>
            <a:r>
              <a:rPr lang="ko-KR" altLang="en-US" sz="1400" dirty="0">
                <a:highlight>
                  <a:srgbClr val="FFFF00"/>
                </a:highlight>
              </a:rPr>
              <a:t>유형에서 </a:t>
            </a:r>
            <a:r>
              <a:rPr lang="en-US" altLang="ko-KR" sz="1400" dirty="0">
                <a:highlight>
                  <a:srgbClr val="FFFF00"/>
                </a:highlight>
              </a:rPr>
              <a:t>Go </a:t>
            </a:r>
            <a:r>
              <a:rPr lang="ko-KR" altLang="en-US" sz="1400" dirty="0" err="1">
                <a:highlight>
                  <a:srgbClr val="FFFF00"/>
                </a:highlight>
              </a:rPr>
              <a:t>선택시</a:t>
            </a:r>
            <a:r>
              <a:rPr lang="ko-KR" altLang="en-US" sz="1400" dirty="0">
                <a:highlight>
                  <a:srgbClr val="FFFF00"/>
                </a:highlight>
              </a:rPr>
              <a:t> 활성화 </a:t>
            </a:r>
            <a:r>
              <a:rPr lang="en-US" altLang="ko-KR" sz="1400" dirty="0"/>
              <a:t>), PROJECT Holding 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err="1"/>
              <a:t>행추가</a:t>
            </a:r>
            <a:r>
              <a:rPr lang="en-US" altLang="ko-KR" sz="1400" dirty="0"/>
              <a:t>/</a:t>
            </a:r>
            <a:r>
              <a:rPr lang="ko-KR" altLang="en-US" sz="1400" dirty="0"/>
              <a:t>삭제 </a:t>
            </a:r>
            <a:endParaRPr lang="en-US" altLang="ko-KR" sz="1400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/>
              <a:t>저장</a:t>
            </a:r>
            <a:endParaRPr lang="en-US" altLang="ko-KR" sz="1600" dirty="0"/>
          </a:p>
          <a:p>
            <a:pPr>
              <a:buFontTx/>
              <a:buChar char="-"/>
            </a:pPr>
            <a:endParaRPr lang="en-US" altLang="ko-KR" sz="1800" dirty="0"/>
          </a:p>
          <a:p>
            <a:pPr>
              <a:buFontTx/>
              <a:buChar char="-"/>
            </a:pPr>
            <a:endParaRPr lang="en-US" altLang="ko-KR" sz="180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05E15-D31C-CB7D-028D-021D04ABB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10" y="2031956"/>
            <a:ext cx="8023681" cy="4669898"/>
          </a:xfrm>
          <a:prstGeom prst="rect">
            <a:avLst/>
          </a:prstGeom>
        </p:spPr>
      </p:pic>
      <p:sp>
        <p:nvSpPr>
          <p:cNvPr id="4" name="양쪽 대괄호 3">
            <a:extLst>
              <a:ext uri="{FF2B5EF4-FFF2-40B4-BE49-F238E27FC236}">
                <a16:creationId xmlns:a16="http://schemas.microsoft.com/office/drawing/2014/main" id="{14ABD567-95B0-079C-4D7E-7408FD3BEB8E}"/>
              </a:ext>
            </a:extLst>
          </p:cNvPr>
          <p:cNvSpPr/>
          <p:nvPr/>
        </p:nvSpPr>
        <p:spPr>
          <a:xfrm>
            <a:off x="3177309" y="5061527"/>
            <a:ext cx="3528291" cy="1431348"/>
          </a:xfrm>
          <a:prstGeom prst="bracketPair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159E9BF-7113-ECD2-D522-30F39C578644}"/>
              </a:ext>
            </a:extLst>
          </p:cNvPr>
          <p:cNvCxnSpPr>
            <a:cxnSpLocks/>
          </p:cNvCxnSpPr>
          <p:nvPr/>
        </p:nvCxnSpPr>
        <p:spPr>
          <a:xfrm flipH="1">
            <a:off x="4941454" y="4442691"/>
            <a:ext cx="1412559" cy="76661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20BC6E0-00A5-7346-4CF8-81B8134EED4C}"/>
              </a:ext>
            </a:extLst>
          </p:cNvPr>
          <p:cNvCxnSpPr>
            <a:cxnSpLocks/>
          </p:cNvCxnSpPr>
          <p:nvPr/>
        </p:nvCxnSpPr>
        <p:spPr>
          <a:xfrm>
            <a:off x="4599037" y="1768663"/>
            <a:ext cx="1754976" cy="267402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D6A7B07-7625-D9BC-1EEE-20E2CD1C5B91}"/>
              </a:ext>
            </a:extLst>
          </p:cNvPr>
          <p:cNvCxnSpPr>
            <a:cxnSpLocks/>
          </p:cNvCxnSpPr>
          <p:nvPr/>
        </p:nvCxnSpPr>
        <p:spPr>
          <a:xfrm>
            <a:off x="7718080" y="1160136"/>
            <a:ext cx="908684" cy="226886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양쪽 대괄호 20">
            <a:extLst>
              <a:ext uri="{FF2B5EF4-FFF2-40B4-BE49-F238E27FC236}">
                <a16:creationId xmlns:a16="http://schemas.microsoft.com/office/drawing/2014/main" id="{96B6A482-73DF-8A75-5E32-DDB281A55E7B}"/>
              </a:ext>
            </a:extLst>
          </p:cNvPr>
          <p:cNvSpPr/>
          <p:nvPr/>
        </p:nvSpPr>
        <p:spPr>
          <a:xfrm>
            <a:off x="7564582" y="3119582"/>
            <a:ext cx="938933" cy="544901"/>
          </a:xfrm>
          <a:prstGeom prst="bracketPair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CE6ECD9-9AAE-567E-7C9F-C614EE495F4E}"/>
              </a:ext>
            </a:extLst>
          </p:cNvPr>
          <p:cNvCxnSpPr>
            <a:cxnSpLocks/>
          </p:cNvCxnSpPr>
          <p:nvPr/>
        </p:nvCxnSpPr>
        <p:spPr>
          <a:xfrm>
            <a:off x="7718080" y="1160136"/>
            <a:ext cx="0" cy="195944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양쪽 대괄호 24">
            <a:extLst>
              <a:ext uri="{FF2B5EF4-FFF2-40B4-BE49-F238E27FC236}">
                <a16:creationId xmlns:a16="http://schemas.microsoft.com/office/drawing/2014/main" id="{356DCA1F-E6C8-AC7C-8CAA-4A509763D1E8}"/>
              </a:ext>
            </a:extLst>
          </p:cNvPr>
          <p:cNvSpPr/>
          <p:nvPr/>
        </p:nvSpPr>
        <p:spPr>
          <a:xfrm>
            <a:off x="6739369" y="5089236"/>
            <a:ext cx="3528291" cy="1431348"/>
          </a:xfrm>
          <a:prstGeom prst="bracketPair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DD65559F-B279-B13A-2801-0FDEF3784278}"/>
              </a:ext>
            </a:extLst>
          </p:cNvPr>
          <p:cNvCxnSpPr>
            <a:cxnSpLocks/>
          </p:cNvCxnSpPr>
          <p:nvPr/>
        </p:nvCxnSpPr>
        <p:spPr>
          <a:xfrm>
            <a:off x="1997406" y="1977642"/>
            <a:ext cx="4440339" cy="2936829"/>
          </a:xfrm>
          <a:prstGeom prst="bentConnector3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104D4CB-D761-238B-852A-F7E84DA42B3D}"/>
              </a:ext>
            </a:extLst>
          </p:cNvPr>
          <p:cNvSpPr/>
          <p:nvPr/>
        </p:nvSpPr>
        <p:spPr>
          <a:xfrm>
            <a:off x="75669" y="2877425"/>
            <a:ext cx="2653531" cy="22775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Project Holding</a:t>
            </a:r>
          </a:p>
          <a:p>
            <a:pPr marL="285750" indent="-285750" algn="ctr">
              <a:buFontTx/>
              <a:buChar char="-"/>
            </a:pPr>
            <a:r>
              <a:rPr lang="ko-KR" altLang="en-US" sz="1400" dirty="0">
                <a:latin typeface="풀무원 로하스 OTF Medium" panose="020B0600000101010101" pitchFamily="34" charset="-127"/>
                <a:ea typeface="풀무원 로하스 OTF Medium" panose="020B0600000101010101" pitchFamily="34" charset="-127"/>
              </a:rPr>
              <a:t>보류 </a:t>
            </a:r>
            <a:r>
              <a:rPr lang="ko-KR" altLang="en-US" sz="1400" dirty="0" err="1">
                <a:latin typeface="풀무원 로하스 OTF Medium" panose="020B0600000101010101" pitchFamily="34" charset="-127"/>
                <a:ea typeface="풀무원 로하스 OTF Medium" panose="020B0600000101010101" pitchFamily="34" charset="-127"/>
              </a:rPr>
              <a:t>체크시</a:t>
            </a:r>
            <a:r>
              <a:rPr lang="ko-KR" altLang="en-US" sz="1400" dirty="0">
                <a:latin typeface="풀무원 로하스 OTF Medium" panose="020B0600000101010101" pitchFamily="34" charset="-127"/>
                <a:ea typeface="풀무원 로하스 OTF Medium" panose="020B0600000101010101" pitchFamily="34" charset="-127"/>
              </a:rPr>
              <a:t> 사유 활성</a:t>
            </a:r>
            <a:endParaRPr lang="en-US" altLang="ko-KR" sz="1400" dirty="0">
              <a:latin typeface="풀무원 로하스 OTF Medium" panose="020B0600000101010101" pitchFamily="34" charset="-127"/>
              <a:ea typeface="풀무원 로하스 OTF Medium" panose="020B0600000101010101" pitchFamily="34" charset="-127"/>
            </a:endParaRPr>
          </a:p>
          <a:p>
            <a:pPr marL="285750" indent="-285750" algn="ctr">
              <a:buFontTx/>
              <a:buChar char="-"/>
            </a:pPr>
            <a:r>
              <a:rPr lang="en-US" altLang="ko-KR" sz="1400" dirty="0"/>
              <a:t>Holding </a:t>
            </a:r>
            <a:r>
              <a:rPr lang="ko-KR" altLang="en-US" sz="1400" dirty="0"/>
              <a:t>페이지로 기록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EDA23AF-E78C-0D9C-2E21-64A891999AE2}"/>
              </a:ext>
            </a:extLst>
          </p:cNvPr>
          <p:cNvCxnSpPr>
            <a:stCxn id="29" idx="3"/>
          </p:cNvCxnSpPr>
          <p:nvPr/>
        </p:nvCxnSpPr>
        <p:spPr>
          <a:xfrm>
            <a:off x="2729200" y="4016192"/>
            <a:ext cx="4255269" cy="148051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50A0E751-D926-25D9-7071-550852D22BB9}"/>
              </a:ext>
            </a:extLst>
          </p:cNvPr>
          <p:cNvCxnSpPr>
            <a:cxnSpLocks/>
          </p:cNvCxnSpPr>
          <p:nvPr/>
        </p:nvCxnSpPr>
        <p:spPr>
          <a:xfrm flipV="1">
            <a:off x="6996087" y="4516626"/>
            <a:ext cx="2783322" cy="397845"/>
          </a:xfrm>
          <a:prstGeom prst="bentConnector3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0056F5C-D093-64B3-0FC5-5172960BEFF1}"/>
              </a:ext>
            </a:extLst>
          </p:cNvPr>
          <p:cNvSpPr/>
          <p:nvPr/>
        </p:nvSpPr>
        <p:spPr>
          <a:xfrm>
            <a:off x="9154610" y="122737"/>
            <a:ext cx="2653531" cy="22775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저장시</a:t>
            </a:r>
            <a:r>
              <a:rPr lang="ko-KR" altLang="en-US" sz="1400" dirty="0"/>
              <a:t> </a:t>
            </a:r>
            <a:r>
              <a:rPr lang="en-US" altLang="ko-KR" sz="1400" dirty="0"/>
              <a:t>&gt;&gt; History</a:t>
            </a:r>
            <a:r>
              <a:rPr lang="ko-KR" altLang="en-US" sz="1400" dirty="0"/>
              <a:t>에 기록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8B8FAC7-7875-499F-5548-A20D491481B7}"/>
              </a:ext>
            </a:extLst>
          </p:cNvPr>
          <p:cNvCxnSpPr>
            <a:cxnSpLocks/>
          </p:cNvCxnSpPr>
          <p:nvPr/>
        </p:nvCxnSpPr>
        <p:spPr>
          <a:xfrm flipH="1">
            <a:off x="10081033" y="2400270"/>
            <a:ext cx="166713" cy="382975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19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DB86A-7006-419E-4D26-1D8A1A62E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B9745-2EF9-A8CC-E233-16823BE3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rmAutofit fontScale="90000"/>
          </a:bodyPr>
          <a:lstStyle/>
          <a:p>
            <a:r>
              <a:rPr lang="en-US" altLang="ko-KR" sz="3200" dirty="0"/>
              <a:t>3. History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5D731-09C8-E966-A8DE-607C57F2C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08" y="890016"/>
            <a:ext cx="10515600" cy="5286947"/>
          </a:xfrm>
        </p:spPr>
        <p:txBody>
          <a:bodyPr/>
          <a:lstStyle/>
          <a:p>
            <a:pPr>
              <a:buFontTx/>
              <a:buChar char="-"/>
            </a:pPr>
            <a:endParaRPr lang="en-US" altLang="ko-KR" sz="1600" dirty="0"/>
          </a:p>
          <a:p>
            <a:pPr>
              <a:buFontTx/>
              <a:buChar char="-"/>
            </a:pPr>
            <a:r>
              <a:rPr lang="en-US" altLang="ko-KR" sz="1600" dirty="0"/>
              <a:t>Ongoing Projects </a:t>
            </a:r>
            <a:r>
              <a:rPr lang="ko-KR" altLang="en-US" sz="1600" dirty="0"/>
              <a:t>기록 저장 </a:t>
            </a:r>
            <a:r>
              <a:rPr lang="en-US" altLang="ko-KR" sz="1600" dirty="0"/>
              <a:t>( </a:t>
            </a:r>
            <a:r>
              <a:rPr lang="ko-KR" altLang="en-US" sz="1600" dirty="0"/>
              <a:t>수정 가능 기능 포함 요청 </a:t>
            </a:r>
            <a:r>
              <a:rPr lang="en-US" altLang="ko-KR" sz="1600" dirty="0"/>
              <a:t>)</a:t>
            </a:r>
          </a:p>
          <a:p>
            <a:pPr>
              <a:buFontTx/>
              <a:buChar char="-"/>
            </a:pPr>
            <a:r>
              <a:rPr lang="en-US" altLang="ko-KR" sz="1800" dirty="0"/>
              <a:t>TBD </a:t>
            </a:r>
            <a:r>
              <a:rPr lang="ko-KR" altLang="en-US" sz="1800" dirty="0" err="1"/>
              <a:t>선택시</a:t>
            </a:r>
            <a:r>
              <a:rPr lang="ko-KR" altLang="en-US" sz="1800" dirty="0"/>
              <a:t> 출시일에 </a:t>
            </a:r>
            <a:r>
              <a:rPr lang="en-US" altLang="ko-KR" sz="1800" dirty="0"/>
              <a:t>TBD </a:t>
            </a:r>
            <a:r>
              <a:rPr lang="ko-KR" altLang="en-US" sz="1800" dirty="0"/>
              <a:t>기록</a:t>
            </a:r>
            <a:endParaRPr lang="en-US" altLang="ko-KR" sz="1800" dirty="0"/>
          </a:p>
          <a:p>
            <a:pPr>
              <a:buFontTx/>
              <a:buChar char="-"/>
            </a:pPr>
            <a:r>
              <a:rPr lang="en-US" altLang="ko-KR" sz="1800" dirty="0">
                <a:highlight>
                  <a:srgbClr val="FFFF00"/>
                </a:highlight>
              </a:rPr>
              <a:t>Gate </a:t>
            </a:r>
            <a:r>
              <a:rPr lang="ko-KR" altLang="en-US" sz="1800" dirty="0">
                <a:highlight>
                  <a:srgbClr val="FFFF00"/>
                </a:highlight>
              </a:rPr>
              <a:t>가</a:t>
            </a:r>
            <a:r>
              <a:rPr lang="en-US" altLang="ko-KR" sz="1800" dirty="0">
                <a:highlight>
                  <a:srgbClr val="FFFF00"/>
                </a:highlight>
              </a:rPr>
              <a:t> closure</a:t>
            </a:r>
            <a:r>
              <a:rPr lang="ko-KR" altLang="en-US" sz="1800" dirty="0">
                <a:highlight>
                  <a:srgbClr val="FFFF00"/>
                </a:highlight>
              </a:rPr>
              <a:t>로 </a:t>
            </a:r>
            <a:r>
              <a:rPr lang="ko-KR" altLang="en-US" sz="1800" dirty="0" err="1">
                <a:highlight>
                  <a:srgbClr val="FFFF00"/>
                </a:highlight>
              </a:rPr>
              <a:t>입력시</a:t>
            </a:r>
            <a:r>
              <a:rPr lang="ko-KR" altLang="en-US" sz="1800" dirty="0">
                <a:highlight>
                  <a:srgbClr val="FFFF00"/>
                </a:highlight>
              </a:rPr>
              <a:t> </a:t>
            </a:r>
            <a:r>
              <a:rPr lang="en-US" altLang="ko-KR" sz="1800" dirty="0">
                <a:highlight>
                  <a:srgbClr val="FFFF00"/>
                </a:highlight>
              </a:rPr>
              <a:t>Release </a:t>
            </a:r>
            <a:r>
              <a:rPr lang="ko-KR" altLang="en-US" sz="1800" dirty="0">
                <a:highlight>
                  <a:srgbClr val="FFFF00"/>
                </a:highlight>
              </a:rPr>
              <a:t>버튼 활성화 </a:t>
            </a:r>
            <a:r>
              <a:rPr lang="en-US" altLang="ko-KR" sz="1800" dirty="0">
                <a:highlight>
                  <a:srgbClr val="FFFF00"/>
                </a:highlight>
              </a:rPr>
              <a:t>&gt;&gt;ARCHIVE </a:t>
            </a:r>
            <a:r>
              <a:rPr lang="ko-KR" altLang="en-US" sz="1800" dirty="0">
                <a:highlight>
                  <a:srgbClr val="FFFF00"/>
                </a:highlight>
              </a:rPr>
              <a:t>페이지로 데이터 이동</a:t>
            </a:r>
            <a:r>
              <a:rPr lang="en-US" altLang="ko-KR" sz="1800" dirty="0">
                <a:highlight>
                  <a:srgbClr val="FFFF00"/>
                </a:highlight>
              </a:rPr>
              <a:t> </a:t>
            </a:r>
          </a:p>
          <a:p>
            <a:pPr>
              <a:buFontTx/>
              <a:buChar char="-"/>
            </a:pPr>
            <a:endParaRPr lang="en-US" altLang="ko-KR" sz="1800" dirty="0"/>
          </a:p>
        </p:txBody>
      </p:sp>
      <p:pic>
        <p:nvPicPr>
          <p:cNvPr id="5" name="그림 4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FAEE4C-A593-C30A-51F2-D9E05AFA1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6" y="2360661"/>
            <a:ext cx="9982200" cy="2136677"/>
          </a:xfrm>
          <a:prstGeom prst="rect">
            <a:avLst/>
          </a:prstGeom>
        </p:spPr>
      </p:pic>
      <p:pic>
        <p:nvPicPr>
          <p:cNvPr id="10" name="그림 9" descr="스크린샷, 텍스트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90248D-708E-8B7E-3121-46835AFA8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53646"/>
            <a:ext cx="9982200" cy="2048208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0CF6850-A2DB-DCA1-E9B0-F3DDAB0CD90C}"/>
              </a:ext>
            </a:extLst>
          </p:cNvPr>
          <p:cNvCxnSpPr>
            <a:cxnSpLocks/>
          </p:cNvCxnSpPr>
          <p:nvPr/>
        </p:nvCxnSpPr>
        <p:spPr>
          <a:xfrm>
            <a:off x="5635671" y="2204354"/>
            <a:ext cx="2723238" cy="412255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C6BD28D-38CA-8C14-2BD6-F170A8E22125}"/>
              </a:ext>
            </a:extLst>
          </p:cNvPr>
          <p:cNvCxnSpPr>
            <a:cxnSpLocks/>
          </p:cNvCxnSpPr>
          <p:nvPr/>
        </p:nvCxnSpPr>
        <p:spPr>
          <a:xfrm flipH="1">
            <a:off x="2843645" y="2204354"/>
            <a:ext cx="2803907" cy="412255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0079C7C-5240-20A4-7432-836B5E645D4A}"/>
              </a:ext>
            </a:extLst>
          </p:cNvPr>
          <p:cNvCxnSpPr>
            <a:cxnSpLocks/>
          </p:cNvCxnSpPr>
          <p:nvPr/>
        </p:nvCxnSpPr>
        <p:spPr>
          <a:xfrm>
            <a:off x="3556000" y="1835770"/>
            <a:ext cx="1558152" cy="229298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양쪽 대괄호 16">
            <a:extLst>
              <a:ext uri="{FF2B5EF4-FFF2-40B4-BE49-F238E27FC236}">
                <a16:creationId xmlns:a16="http://schemas.microsoft.com/office/drawing/2014/main" id="{46754964-47AC-7118-8C41-F52441F63093}"/>
              </a:ext>
            </a:extLst>
          </p:cNvPr>
          <p:cNvSpPr/>
          <p:nvPr/>
        </p:nvSpPr>
        <p:spPr>
          <a:xfrm>
            <a:off x="8940800" y="5892800"/>
            <a:ext cx="1570183" cy="809054"/>
          </a:xfrm>
          <a:prstGeom prst="bracketPair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16C5979-47A3-B17C-A052-A28918A9191B}"/>
              </a:ext>
            </a:extLst>
          </p:cNvPr>
          <p:cNvCxnSpPr>
            <a:cxnSpLocks/>
          </p:cNvCxnSpPr>
          <p:nvPr/>
        </p:nvCxnSpPr>
        <p:spPr>
          <a:xfrm>
            <a:off x="6096000" y="1505527"/>
            <a:ext cx="3343732" cy="47638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CA2C76B-6F22-A128-3048-4E8FDDB0B03A}"/>
              </a:ext>
            </a:extLst>
          </p:cNvPr>
          <p:cNvCxnSpPr>
            <a:cxnSpLocks/>
          </p:cNvCxnSpPr>
          <p:nvPr/>
        </p:nvCxnSpPr>
        <p:spPr>
          <a:xfrm>
            <a:off x="6096000" y="1505527"/>
            <a:ext cx="3954654" cy="47918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83A2C8-8409-E21B-36FA-C196AF080B76}"/>
              </a:ext>
            </a:extLst>
          </p:cNvPr>
          <p:cNvSpPr/>
          <p:nvPr/>
        </p:nvSpPr>
        <p:spPr>
          <a:xfrm>
            <a:off x="2919435" y="113237"/>
            <a:ext cx="8155709" cy="8633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①No, ②</a:t>
            </a:r>
            <a:r>
              <a:rPr lang="ko-KR" altLang="en-US" dirty="0"/>
              <a:t>브랜드</a:t>
            </a:r>
            <a:r>
              <a:rPr lang="en-US" altLang="ko-KR" dirty="0"/>
              <a:t>, ③</a:t>
            </a:r>
            <a:r>
              <a:rPr lang="ko-KR" altLang="en-US" dirty="0"/>
              <a:t>제품</a:t>
            </a:r>
            <a:r>
              <a:rPr lang="en-US" altLang="ko-KR" dirty="0"/>
              <a:t>, ④</a:t>
            </a:r>
            <a:r>
              <a:rPr lang="ko-KR" altLang="en-US" dirty="0"/>
              <a:t>프로젝트명</a:t>
            </a:r>
            <a:r>
              <a:rPr lang="en-US" altLang="ko-KR" dirty="0"/>
              <a:t>, ⑤</a:t>
            </a:r>
            <a:r>
              <a:rPr lang="ko-KR" altLang="en-US" dirty="0"/>
              <a:t>담당자</a:t>
            </a:r>
            <a:r>
              <a:rPr lang="en-US" altLang="ko-KR" dirty="0"/>
              <a:t>, ⑥Gate, ⑦</a:t>
            </a:r>
            <a:r>
              <a:rPr lang="ko-KR" altLang="en-US" dirty="0"/>
              <a:t>출시일</a:t>
            </a:r>
            <a:r>
              <a:rPr lang="en-US" altLang="ko-KR" dirty="0"/>
              <a:t>, ⑧</a:t>
            </a:r>
            <a:r>
              <a:rPr lang="ko-KR" altLang="en-US" dirty="0"/>
              <a:t>보고일</a:t>
            </a:r>
            <a:r>
              <a:rPr lang="en-US" altLang="ko-KR" dirty="0"/>
              <a:t>, ⑨</a:t>
            </a:r>
            <a:r>
              <a:rPr lang="ko-KR" altLang="en-US" dirty="0"/>
              <a:t>문서</a:t>
            </a:r>
            <a:r>
              <a:rPr lang="en-US" altLang="ko-KR" dirty="0"/>
              <a:t>, ⑩</a:t>
            </a:r>
            <a:r>
              <a:rPr lang="ko-KR" altLang="en-US" dirty="0"/>
              <a:t>유형</a:t>
            </a:r>
            <a:r>
              <a:rPr lang="en-US" altLang="ko-KR" dirty="0"/>
              <a:t>, ⑪</a:t>
            </a:r>
            <a:r>
              <a:rPr lang="ko-KR" altLang="en-US" dirty="0"/>
              <a:t>비고</a:t>
            </a:r>
            <a:r>
              <a:rPr lang="en-US" altLang="ko-KR" dirty="0"/>
              <a:t> ⑫Decision Confirmed, ⑬Release, ⑭</a:t>
            </a:r>
            <a:r>
              <a:rPr lang="ko-KR" altLang="en-US" dirty="0"/>
              <a:t>수정</a:t>
            </a:r>
            <a:r>
              <a:rPr lang="en-US" altLang="ko-KR" dirty="0"/>
              <a:t>, ⑮</a:t>
            </a:r>
            <a:r>
              <a:rPr lang="ko-KR" altLang="en-US" dirty="0"/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3215769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50202-6B54-AD9C-6F66-5D1D629D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61874-4C2D-81E9-4A40-1B42D9F6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rmAutofit fontScale="90000"/>
          </a:bodyPr>
          <a:lstStyle/>
          <a:p>
            <a:r>
              <a:rPr lang="en-US" altLang="ko-KR" sz="3200" dirty="0"/>
              <a:t>3. History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77C615-9262-3DFC-E4E3-07590B054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08" y="890016"/>
            <a:ext cx="10515600" cy="5286947"/>
          </a:xfrm>
        </p:spPr>
        <p:txBody>
          <a:bodyPr/>
          <a:lstStyle/>
          <a:p>
            <a:pPr>
              <a:buFontTx/>
              <a:buChar char="-"/>
            </a:pPr>
            <a:endParaRPr lang="en-US" altLang="ko-KR" sz="1600" dirty="0"/>
          </a:p>
          <a:p>
            <a:pPr>
              <a:buFontTx/>
              <a:buChar char="-"/>
            </a:pPr>
            <a:r>
              <a:rPr lang="en-US" altLang="ko-KR" sz="1800" dirty="0">
                <a:highlight>
                  <a:srgbClr val="FFFF00"/>
                </a:highlight>
              </a:rPr>
              <a:t>Release </a:t>
            </a:r>
            <a:r>
              <a:rPr lang="ko-KR" altLang="en-US" sz="1800" dirty="0">
                <a:highlight>
                  <a:srgbClr val="FFFF00"/>
                </a:highlight>
              </a:rPr>
              <a:t>버튼 </a:t>
            </a:r>
            <a:r>
              <a:rPr lang="ko-KR" altLang="en-US" sz="1800" dirty="0" err="1">
                <a:highlight>
                  <a:srgbClr val="FFFF00"/>
                </a:highlight>
              </a:rPr>
              <a:t>클릭시</a:t>
            </a:r>
            <a:r>
              <a:rPr lang="ko-KR" altLang="en-US" sz="1800" dirty="0">
                <a:highlight>
                  <a:srgbClr val="FFFF00"/>
                </a:highlight>
              </a:rPr>
              <a:t> </a:t>
            </a:r>
            <a:r>
              <a:rPr lang="en-US" altLang="ko-KR" sz="1800" dirty="0">
                <a:highlight>
                  <a:srgbClr val="FFFF00"/>
                </a:highlight>
              </a:rPr>
              <a:t>ARCHIVE</a:t>
            </a:r>
            <a:r>
              <a:rPr lang="ko-KR" altLang="en-US" sz="1800" dirty="0">
                <a:highlight>
                  <a:srgbClr val="FFFF00"/>
                </a:highlight>
              </a:rPr>
              <a:t>로 저장 기록 이동 </a:t>
            </a:r>
            <a:r>
              <a:rPr lang="en-US" altLang="ko-KR" sz="1800" dirty="0">
                <a:highlight>
                  <a:srgbClr val="FFFF00"/>
                </a:highlight>
              </a:rPr>
              <a:t>( TBD </a:t>
            </a:r>
            <a:r>
              <a:rPr lang="ko-KR" altLang="en-US" sz="1800" dirty="0">
                <a:highlight>
                  <a:srgbClr val="FFFF00"/>
                </a:highlight>
              </a:rPr>
              <a:t>체크된 상태에서는 불가능 </a:t>
            </a:r>
            <a:r>
              <a:rPr lang="en-US" altLang="ko-KR" sz="1800" dirty="0">
                <a:highlight>
                  <a:srgbClr val="FFFF00"/>
                </a:highlight>
              </a:rPr>
              <a:t>)</a:t>
            </a:r>
          </a:p>
          <a:p>
            <a:pPr>
              <a:buFontTx/>
              <a:buChar char="-"/>
            </a:pPr>
            <a:r>
              <a:rPr lang="ko-KR" altLang="en-US" sz="1800" dirty="0"/>
              <a:t>이동 후 </a:t>
            </a:r>
            <a:r>
              <a:rPr lang="en-US" altLang="ko-KR" sz="1800" dirty="0"/>
              <a:t>History</a:t>
            </a:r>
            <a:r>
              <a:rPr lang="ko-KR" altLang="en-US" sz="1800" dirty="0"/>
              <a:t>에 </a:t>
            </a:r>
            <a:r>
              <a:rPr lang="en-US" altLang="ko-KR" sz="1800" dirty="0"/>
              <a:t>Released</a:t>
            </a:r>
            <a:r>
              <a:rPr lang="ko-KR" altLang="en-US" sz="1800" dirty="0"/>
              <a:t>로 표식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>
              <a:buFontTx/>
              <a:buChar char="-"/>
            </a:pPr>
            <a:endParaRPr lang="en-US" altLang="ko-KR" sz="1800" dirty="0"/>
          </a:p>
        </p:txBody>
      </p:sp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B27433-86AC-BFC2-43CB-80654E4D2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90" y="2085630"/>
            <a:ext cx="7425335" cy="429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9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9103-AE78-A8C2-802A-EADEA1DC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A3378-22CD-9483-0D8C-CA5172089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891"/>
          </a:xfrm>
        </p:spPr>
        <p:txBody>
          <a:bodyPr>
            <a:normAutofit fontScale="90000"/>
          </a:bodyPr>
          <a:lstStyle/>
          <a:p>
            <a:r>
              <a:rPr lang="en-US" altLang="ko-KR" sz="3200" dirty="0"/>
              <a:t>4. Holding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0F9A7-7088-8B6F-CAD2-40CEE251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08" y="890016"/>
            <a:ext cx="10515600" cy="5286947"/>
          </a:xfrm>
        </p:spPr>
        <p:txBody>
          <a:bodyPr/>
          <a:lstStyle/>
          <a:p>
            <a:pPr>
              <a:buFontTx/>
              <a:buChar char="-"/>
            </a:pPr>
            <a:endParaRPr lang="en-US" altLang="ko-KR" sz="1600" dirty="0"/>
          </a:p>
          <a:p>
            <a:pPr>
              <a:buFontTx/>
              <a:buChar char="-"/>
            </a:pPr>
            <a:r>
              <a:rPr lang="en-US" altLang="ko-KR" sz="1800" dirty="0"/>
              <a:t>Ongoing Projects</a:t>
            </a:r>
            <a:r>
              <a:rPr lang="ko-KR" altLang="en-US" sz="1800" dirty="0"/>
              <a:t>에 </a:t>
            </a:r>
            <a:r>
              <a:rPr lang="en-US" altLang="ko-KR" sz="1800" dirty="0"/>
              <a:t>Holding </a:t>
            </a:r>
            <a:r>
              <a:rPr lang="ko-KR" altLang="en-US" sz="1800" dirty="0"/>
              <a:t>선택하고 사유 </a:t>
            </a:r>
            <a:r>
              <a:rPr lang="ko-KR" altLang="en-US" sz="1800" dirty="0" err="1"/>
              <a:t>입력시</a:t>
            </a:r>
            <a:r>
              <a:rPr lang="ko-KR" altLang="en-US" sz="1800" dirty="0"/>
              <a:t> 아래와 같이 기록저장</a:t>
            </a:r>
            <a:endParaRPr lang="en-US" altLang="ko-KR" sz="1800" dirty="0"/>
          </a:p>
          <a:p>
            <a:pPr>
              <a:buFontTx/>
              <a:buChar char="-"/>
            </a:pPr>
            <a:r>
              <a:rPr lang="en-US" altLang="ko-KR" sz="1800" dirty="0">
                <a:highlight>
                  <a:srgbClr val="FFFF00"/>
                </a:highlight>
              </a:rPr>
              <a:t>Holding</a:t>
            </a:r>
            <a:r>
              <a:rPr lang="ko-KR" altLang="en-US" sz="1800" dirty="0">
                <a:highlight>
                  <a:srgbClr val="FFFF00"/>
                </a:highlight>
              </a:rPr>
              <a:t>시</a:t>
            </a:r>
            <a:r>
              <a:rPr lang="en-US" altLang="ko-KR" sz="1800" dirty="0">
                <a:highlight>
                  <a:srgbClr val="FFFF00"/>
                </a:highlight>
              </a:rPr>
              <a:t> </a:t>
            </a:r>
            <a:r>
              <a:rPr lang="ko-KR" altLang="en-US" sz="1800" dirty="0">
                <a:highlight>
                  <a:srgbClr val="FFFF00"/>
                </a:highlight>
              </a:rPr>
              <a:t>해제 </a:t>
            </a:r>
            <a:r>
              <a:rPr lang="en-US" altLang="ko-KR" sz="1800" dirty="0">
                <a:highlight>
                  <a:srgbClr val="FFFF00"/>
                </a:highlight>
              </a:rPr>
              <a:t>or </a:t>
            </a:r>
            <a:r>
              <a:rPr lang="ko-KR" altLang="en-US" sz="1800" dirty="0" err="1">
                <a:highlight>
                  <a:srgbClr val="FFFF00"/>
                </a:highlight>
              </a:rPr>
              <a:t>해제시</a:t>
            </a:r>
            <a:r>
              <a:rPr lang="ko-KR" altLang="en-US" sz="1800" dirty="0">
                <a:highlight>
                  <a:srgbClr val="FFFF00"/>
                </a:highlight>
              </a:rPr>
              <a:t> 해제 상태 표시 </a:t>
            </a:r>
            <a:r>
              <a:rPr lang="en-US" altLang="ko-KR" sz="1800" dirty="0">
                <a:highlight>
                  <a:srgbClr val="FFFF00"/>
                </a:highlight>
              </a:rPr>
              <a:t>, </a:t>
            </a:r>
            <a:r>
              <a:rPr lang="ko-KR" altLang="en-US" sz="1800" dirty="0">
                <a:highlight>
                  <a:srgbClr val="FFFF00"/>
                </a:highlight>
              </a:rPr>
              <a:t>수정 가능</a:t>
            </a:r>
            <a:endParaRPr lang="en-US" altLang="ko-KR" sz="1800" dirty="0">
              <a:highlight>
                <a:srgbClr val="FFFF00"/>
              </a:highlight>
            </a:endParaRPr>
          </a:p>
          <a:p>
            <a:pPr>
              <a:buFontTx/>
              <a:buChar char="-"/>
            </a:pPr>
            <a:r>
              <a:rPr lang="ko-KR" altLang="en-US" sz="1800" dirty="0">
                <a:highlight>
                  <a:srgbClr val="FFFF00"/>
                </a:highlight>
              </a:rPr>
              <a:t>홀딩현황 공유</a:t>
            </a:r>
            <a:endParaRPr lang="en-US" altLang="ko-KR" sz="1800" dirty="0">
              <a:highlight>
                <a:srgbClr val="FFFF00"/>
              </a:highlight>
            </a:endParaRPr>
          </a:p>
          <a:p>
            <a:pPr>
              <a:buFontTx/>
              <a:buChar char="-"/>
            </a:pPr>
            <a:endParaRPr lang="en-US" altLang="ko-KR" sz="1800" dirty="0"/>
          </a:p>
        </p:txBody>
      </p:sp>
      <p:pic>
        <p:nvPicPr>
          <p:cNvPr id="5" name="그림 4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CB5517-2EE5-917F-774A-2497ABCF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6" y="2730313"/>
            <a:ext cx="10351477" cy="3446650"/>
          </a:xfrm>
          <a:prstGeom prst="rect">
            <a:avLst/>
          </a:prstGeom>
        </p:spPr>
      </p:pic>
      <p:sp>
        <p:nvSpPr>
          <p:cNvPr id="4" name="양쪽 대괄호 3">
            <a:extLst>
              <a:ext uri="{FF2B5EF4-FFF2-40B4-BE49-F238E27FC236}">
                <a16:creationId xmlns:a16="http://schemas.microsoft.com/office/drawing/2014/main" id="{6CA95696-A53F-EB8D-6B8D-2FAE605020E1}"/>
              </a:ext>
            </a:extLst>
          </p:cNvPr>
          <p:cNvSpPr/>
          <p:nvPr/>
        </p:nvSpPr>
        <p:spPr>
          <a:xfrm>
            <a:off x="9404182" y="5264727"/>
            <a:ext cx="1485491" cy="812800"/>
          </a:xfrm>
          <a:prstGeom prst="bracketPair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EAEFDE6-6574-BEE7-4020-2E2768E73F6D}"/>
              </a:ext>
            </a:extLst>
          </p:cNvPr>
          <p:cNvCxnSpPr>
            <a:cxnSpLocks/>
          </p:cNvCxnSpPr>
          <p:nvPr/>
        </p:nvCxnSpPr>
        <p:spPr>
          <a:xfrm>
            <a:off x="4507345" y="1921164"/>
            <a:ext cx="5144655" cy="3823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B440847-3A99-D788-51F8-3DDB71DA6FB2}"/>
              </a:ext>
            </a:extLst>
          </p:cNvPr>
          <p:cNvCxnSpPr>
            <a:cxnSpLocks/>
          </p:cNvCxnSpPr>
          <p:nvPr/>
        </p:nvCxnSpPr>
        <p:spPr>
          <a:xfrm>
            <a:off x="1930400" y="2309091"/>
            <a:ext cx="609600" cy="1884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35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413</Words>
  <Application>Microsoft Office PowerPoint</Application>
  <PresentationFormat>와이드스크린</PresentationFormat>
  <Paragraphs>67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풀무원 로하스 OTF Medium</vt:lpstr>
      <vt:lpstr>Arial</vt:lpstr>
      <vt:lpstr>Wingdings</vt:lpstr>
      <vt:lpstr>Office 테마</vt:lpstr>
      <vt:lpstr>PowerPoint 프레젠테이션</vt:lpstr>
      <vt:lpstr>1. ARCHIVE</vt:lpstr>
      <vt:lpstr>1. ARCHIVE ( 과거 프로젝트  )</vt:lpstr>
      <vt:lpstr>1. ARCHIVE</vt:lpstr>
      <vt:lpstr>2. Ongoing Projects ( 진행중인 프로젝트 )</vt:lpstr>
      <vt:lpstr>3. History</vt:lpstr>
      <vt:lpstr>3. History</vt:lpstr>
      <vt:lpstr>4. Holding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전진호(Jeon Jean Jinho)/재무회계팀/풀무원다논</dc:creator>
  <cp:lastModifiedBy>전진호(Jeon Jean Jinho)/재무회계팀/풀무원다논</cp:lastModifiedBy>
  <cp:revision>17</cp:revision>
  <dcterms:created xsi:type="dcterms:W3CDTF">2026-02-20T01:20:52Z</dcterms:created>
  <dcterms:modified xsi:type="dcterms:W3CDTF">2026-02-26T03:07:22Z</dcterms:modified>
</cp:coreProperties>
</file>